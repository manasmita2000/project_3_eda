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7.xml"/><Relationship Id="rId3" Type="http://schemas.openxmlformats.org/officeDocument/2006/relationships/image" Target="../media/image1.png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0.xml"/><Relationship Id="rId3" Type="http://schemas.openxmlformats.org/officeDocument/2006/relationships/image" Target="../media/image2.png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3.xml"/><Relationship Id="rId3" Type="http://schemas.openxmlformats.org/officeDocument/2006/relationships/image" Target="../media/image3.jpeg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6.xml"/><Relationship Id="rId3" Type="http://schemas.openxmlformats.org/officeDocument/2006/relationships/image" Target="../media/image4.jpeg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9.xml"/><Relationship Id="rId3" Type="http://schemas.openxmlformats.org/officeDocument/2006/relationships/image" Target="../media/image5.jpeg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2.xml"/><Relationship Id="rId3" Type="http://schemas.openxmlformats.org/officeDocument/2006/relationships/image" Target="../media/image6.jpeg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5.xml"/><Relationship Id="rId3" Type="http://schemas.openxmlformats.org/officeDocument/2006/relationships/image" Target="../media/image7.png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8.xml"/><Relationship Id="rId3" Type="http://schemas.openxmlformats.org/officeDocument/2006/relationships/image" Target="../media/image8.png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1.xml"/><Relationship Id="rId3" Type="http://schemas.openxmlformats.org/officeDocument/2006/relationships/image" Target="../media/image9.png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4.xml"/><Relationship Id="rId3" Type="http://schemas.openxmlformats.org/officeDocument/2006/relationships/image" Target="../media/image10.png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57.xml"/><Relationship Id="rId3" Type="http://schemas.openxmlformats.org/officeDocument/2006/relationships/image" Target="../media/image11.png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0.xml"/><Relationship Id="rId3" Type="http://schemas.openxmlformats.org/officeDocument/2006/relationships/image" Target="../media/image12.png"/><Relationship Id="rId2" Type="http://schemas.openxmlformats.org/officeDocument/2006/relationships/tags" Target="../tags/tag159.xml"/><Relationship Id="rId1" Type="http://schemas.openxmlformats.org/officeDocument/2006/relationships/tags" Target="../tags/tag158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3.xml"/><Relationship Id="rId3" Type="http://schemas.openxmlformats.org/officeDocument/2006/relationships/image" Target="../media/image13.png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9.xml"/><Relationship Id="rId3" Type="http://schemas.openxmlformats.org/officeDocument/2006/relationships/image" Target="../media/image14.png"/><Relationship Id="rId2" Type="http://schemas.openxmlformats.org/officeDocument/2006/relationships/tags" Target="../tags/tag168.xml"/><Relationship Id="rId1" Type="http://schemas.openxmlformats.org/officeDocument/2006/relationships/tags" Target="../tags/tag1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1589405"/>
            <a:ext cx="9799320" cy="3641090"/>
          </a:xfrm>
        </p:spPr>
        <p:txBody>
          <a:bodyPr>
            <a:normAutofit/>
          </a:bodyPr>
          <a:p>
            <a:pPr algn="ctr"/>
            <a:r>
              <a:rPr lang="en-US" altLang="en-US" sz="4800"/>
              <a:t>Exploratory Data Analysis of Large-Scale Retail Transaction Data</a:t>
            </a:r>
            <a:br>
              <a:rPr lang="en-US" altLang="en-US" sz="4800"/>
            </a:br>
            <a:br>
              <a:rPr lang="en-US" altLang="en-US"/>
            </a:br>
            <a:r>
              <a:rPr lang="en-GB" altLang="en-US" sz="1800"/>
              <a:t>By Manasmita Mohakud</a:t>
            </a:r>
            <a:endParaRPr lang="en-GB" altLang="en-US" sz="1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460365" y="436880"/>
            <a:ext cx="6644005" cy="401955"/>
          </a:xfrm>
        </p:spPr>
        <p:txBody>
          <a:bodyPr>
            <a:normAutofit fontScale="70000"/>
          </a:bodyPr>
          <a:p>
            <a:r>
              <a:rPr lang="en-US" altLang="en-US"/>
              <a:t>NextHikes IT Solutions</a:t>
            </a:r>
            <a:endParaRPr lang="en-US" alt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1270" y="99060"/>
            <a:ext cx="11937365" cy="14903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en-US" sz="4400" b="1">
                <a:solidFill>
                  <a:schemeClr val="tx1"/>
                </a:solidFill>
                <a:sym typeface="+mn-ea"/>
              </a:rPr>
              <a:t>Exploratory Data Analysis of Large-Scale Retail Transaction Data</a:t>
            </a:r>
            <a:br>
              <a:rPr lang="en-US" altLang="en-US" sz="4800">
                <a:solidFill>
                  <a:schemeClr val="tx1"/>
                </a:solidFill>
                <a:sym typeface="+mn-ea"/>
              </a:rPr>
            </a:br>
            <a:br>
              <a:rPr lang="en-US" altLang="en-US">
                <a:solidFill>
                  <a:schemeClr val="tx1"/>
                </a:solidFill>
                <a:sym typeface="+mn-ea"/>
              </a:rPr>
            </a:br>
            <a:endParaRPr lang="en-US" altLang="en-US" b="1">
              <a:sym typeface="+mn-ea"/>
            </a:endParaRPr>
          </a:p>
          <a:p>
            <a:pPr algn="ctr"/>
            <a:endParaRPr lang="en-GB" altLang="en-US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7934960" y="6341745"/>
            <a:ext cx="4169410" cy="4025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GB" altLang="en-US" sz="2400" b="1">
                <a:sym typeface="+mn-ea"/>
              </a:rPr>
              <a:t>By Manasmita Mohakud</a:t>
            </a:r>
            <a:endParaRPr lang="en-GB" altLang="en-US" sz="2400" b="1"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4447540" y="1397635"/>
            <a:ext cx="3487420" cy="4019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2000" b="1"/>
              <a:t>NextHikes IT Solutions</a:t>
            </a:r>
            <a:endParaRPr lang="en-US" sz="2000" b="1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/>
              <a:t> Introduction to Exploratory Data Analysis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5406390" cy="475932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GB" altLang="en-US" b="1"/>
              <a:t>   </a:t>
            </a:r>
            <a:r>
              <a:rPr lang="en-US" altLang="en-US" b="1"/>
              <a:t>What is EDA</a:t>
            </a:r>
            <a:r>
              <a:rPr lang="en-US" altLang="en-US"/>
              <a:t>?</a:t>
            </a:r>
            <a:endParaRPr lang="en-US" altLang="en-US"/>
          </a:p>
          <a:p>
            <a:r>
              <a:rPr lang="en-US" altLang="en-US"/>
              <a:t>A crucial statistical approach used to summarize, visualize, and understand datasets before applying predictive models.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Project Scope: Detailed EDA on a large retail transaction dataset containing 100,000 records and 18 variables.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Core Focus:</a:t>
            </a:r>
            <a:r>
              <a:rPr lang="en-GB" altLang="en-US"/>
              <a:t> </a:t>
            </a:r>
            <a:r>
              <a:rPr lang="en-US" altLang="en-US"/>
              <a:t>Statistical distribution analysis, uncovering relationships between variables, and identifying unusual patterns.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720" y="1672590"/>
            <a:ext cx="5901055" cy="45770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47115" y="274320"/>
            <a:ext cx="10183495" cy="586740"/>
          </a:xfrm>
        </p:spPr>
        <p:txBody>
          <a:bodyPr>
            <a:normAutofit fontScale="90000"/>
          </a:bodyPr>
          <a:p>
            <a:r>
              <a:rPr lang="en-US" altLang="en-US" sz="4000" b="1"/>
              <a:t>Situation Overview &amp; Objectives</a:t>
            </a:r>
            <a:endParaRPr lang="en-US" altLang="en-US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11530" y="1029970"/>
            <a:ext cx="10419080" cy="2756535"/>
          </a:xfrm>
        </p:spPr>
        <p:txBody>
          <a:bodyPr>
            <a:normAutofit fontScale="25000"/>
          </a:bodyPr>
          <a:p>
            <a:pPr marL="0" indent="0" algn="l">
              <a:buNone/>
            </a:pPr>
            <a:r>
              <a:rPr lang="en-US" altLang="en-US" sz="9600" b="1"/>
              <a:t>Project Objectives &amp; Scope</a:t>
            </a:r>
            <a:r>
              <a:rPr lang="en-GB" altLang="en-US" sz="9600" b="1"/>
              <a:t>:</a:t>
            </a:r>
            <a:endParaRPr lang="en-US" altLang="en-US" sz="7200" b="1"/>
          </a:p>
          <a:p>
            <a:pPr marL="0" indent="0" algn="l">
              <a:buNone/>
            </a:pPr>
            <a:r>
              <a:rPr lang="en-US" altLang="en-US" sz="5600" b="1"/>
              <a:t>* </a:t>
            </a:r>
            <a:r>
              <a:rPr lang="en-US" altLang="en-US" sz="6400"/>
              <a:t>Perform rigorous univariate, bivariate, and multivariate analyses.</a:t>
            </a:r>
            <a:endParaRPr lang="en-US" altLang="en-US" sz="6400"/>
          </a:p>
          <a:p>
            <a:pPr marL="0" indent="0" algn="l">
              <a:buNone/>
            </a:pPr>
            <a:r>
              <a:rPr lang="en-US" altLang="en-US" sz="6400"/>
              <a:t>* Detect and interpret data outliers accurately.</a:t>
            </a:r>
            <a:endParaRPr lang="en-US" altLang="en-US" sz="6400"/>
          </a:p>
          <a:p>
            <a:pPr marL="0" indent="0" algn="l">
              <a:buNone/>
            </a:pPr>
            <a:r>
              <a:rPr lang="en-US" altLang="en-US" sz="6400"/>
              <a:t>* Measure correlation between multiple numerical variables.</a:t>
            </a:r>
            <a:endParaRPr lang="en-US" altLang="en-US" sz="6400"/>
          </a:p>
          <a:p>
            <a:pPr marL="0" indent="0" algn="l">
              <a:buNone/>
            </a:pPr>
            <a:r>
              <a:rPr lang="en-US" altLang="en-US" sz="6400"/>
              <a:t>* Analyze data distribution features such as skewness and kurtosis.</a:t>
            </a:r>
            <a:endParaRPr lang="en-US" altLang="en-US" sz="6400"/>
          </a:p>
          <a:p>
            <a:pPr marL="0" indent="0" algn="l">
              <a:buNone/>
            </a:pPr>
            <a:r>
              <a:rPr lang="en-US" altLang="en-US" sz="6400"/>
              <a:t>* Extract statistically meaningful and actionable business insights</a:t>
            </a:r>
            <a:r>
              <a:rPr lang="en-US" altLang="en-US" sz="6400" b="1"/>
              <a:t>.</a:t>
            </a:r>
            <a:endParaRPr lang="en-US" altLang="en-US" sz="6400" b="1"/>
          </a:p>
          <a:p>
            <a:pPr marL="0" indent="0" algn="l">
              <a:buNone/>
            </a:pPr>
            <a:endParaRPr lang="en-US" altLang="en-US" sz="6400" b="1"/>
          </a:p>
        </p:txBody>
      </p:sp>
      <p:pic>
        <p:nvPicPr>
          <p:cNvPr id="4" name="Picture 3" descr="pic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3851910"/>
            <a:ext cx="10034270" cy="28486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348685"/>
            <a:ext cx="10969200" cy="705600"/>
          </a:xfrm>
        </p:spPr>
        <p:txBody>
          <a:bodyPr/>
          <a:p>
            <a:r>
              <a:rPr lang="en-US" altLang="en-US" b="1"/>
              <a:t>Univariate Analysis – Numerical Variables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5006975" cy="4759325"/>
          </a:xfrm>
        </p:spPr>
        <p:txBody>
          <a:bodyPr>
            <a:normAutofit fontScale="50000"/>
          </a:bodyPr>
          <a:p>
            <a:pPr marL="0" indent="0">
              <a:buNone/>
            </a:pPr>
            <a:r>
              <a:rPr lang="en-US" altLang="en-US" sz="2855" b="1"/>
              <a:t>Univariate Analysis: Numerical Variables</a:t>
            </a:r>
            <a:endParaRPr lang="en-US" altLang="en-US" sz="2855" b="1"/>
          </a:p>
          <a:p>
            <a:r>
              <a:rPr lang="en-US" altLang="en-US" sz="2400" b="1"/>
              <a:t> </a:t>
            </a:r>
            <a:r>
              <a:rPr lang="en-US" altLang="en-US" sz="3200" b="1"/>
              <a:t>Computed Metrics:</a:t>
            </a:r>
            <a:r>
              <a:rPr lang="en-US" altLang="en-US" sz="3200"/>
              <a:t> Mean, Median, Standard Deviation, Min/Max, Skewness, and Kurtosis.</a:t>
            </a:r>
            <a:endParaRPr lang="en-US" altLang="en-US" sz="3200"/>
          </a:p>
          <a:p>
            <a:r>
              <a:rPr lang="en-GB" altLang="en-US" sz="3200" b="1"/>
              <a:t>‘</a:t>
            </a:r>
            <a:r>
              <a:rPr lang="en-US" altLang="en-US" sz="3200" b="1"/>
              <a:t>product_price</a:t>
            </a:r>
            <a:r>
              <a:rPr lang="en-GB" altLang="en-US" sz="3200" b="1"/>
              <a:t>’</a:t>
            </a:r>
            <a:r>
              <a:rPr lang="en-US" altLang="en-US" sz="3200"/>
              <a:t> showed positive skewness (more lower-priced products than expensive ones).</a:t>
            </a:r>
            <a:endParaRPr lang="en-US" altLang="en-US" sz="3200"/>
          </a:p>
          <a:p>
            <a:r>
              <a:rPr lang="en-GB" altLang="en-US" sz="3200" b="1"/>
              <a:t>‘</a:t>
            </a:r>
            <a:r>
              <a:rPr lang="en-US" altLang="en-US" sz="3200" b="1"/>
              <a:t>final_price</a:t>
            </a:r>
            <a:r>
              <a:rPr lang="en-GB" altLang="en-US" sz="3200" b="1"/>
              <a:t>’</a:t>
            </a:r>
            <a:r>
              <a:rPr lang="en-US" altLang="en-US" sz="3200"/>
              <a:t> exhibited high kurtosis, indicating extreme values from bulk purchases.</a:t>
            </a:r>
            <a:endParaRPr lang="en-US" altLang="en-US" sz="3200"/>
          </a:p>
          <a:p>
            <a:r>
              <a:rPr lang="en-GB" altLang="en-US" sz="3200" b="1"/>
              <a:t>‘</a:t>
            </a:r>
            <a:r>
              <a:rPr lang="en-US" altLang="en-US" sz="3200" b="1"/>
              <a:t>discount_percentage</a:t>
            </a:r>
            <a:r>
              <a:rPr lang="en-GB" altLang="en-US" sz="3200" b="1"/>
              <a:t>’</a:t>
            </a:r>
            <a:r>
              <a:rPr lang="en-US" altLang="en-US" sz="3200"/>
              <a:t> was uniformly distributed between 0–30%</a:t>
            </a:r>
            <a:r>
              <a:rPr lang="en-US" altLang="en-US" sz="2000"/>
              <a:t>.</a:t>
            </a:r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</p:txBody>
      </p:sp>
      <p:pic>
        <p:nvPicPr>
          <p:cNvPr id="4" name="Picture 3" descr="pic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940" y="1490345"/>
            <a:ext cx="646366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375920"/>
            <a:ext cx="11363960" cy="705485"/>
          </a:xfrm>
        </p:spPr>
        <p:txBody>
          <a:bodyPr>
            <a:normAutofit fontScale="90000"/>
          </a:bodyPr>
          <a:p>
            <a:r>
              <a:rPr lang="en-US" altLang="en-US" sz="4000" b="1"/>
              <a:t>Univariate Analysis – Categorical Variables</a:t>
            </a:r>
            <a:endParaRPr lang="en-US" altLang="en-US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5233670" cy="475932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sz="2400" b="1"/>
              <a:t>Univariate Analysis: </a:t>
            </a:r>
            <a:r>
              <a:rPr lang="en-US" altLang="en-US" sz="2000" b="1"/>
              <a:t>Categorical Variables</a:t>
            </a:r>
            <a:endParaRPr lang="en-US" altLang="en-US" sz="2400" b="1"/>
          </a:p>
          <a:p>
            <a:r>
              <a:rPr lang="en-US" altLang="en-US" b="1"/>
              <a:t> Analyzed categories: </a:t>
            </a:r>
            <a:r>
              <a:rPr lang="en-GB" altLang="en-US"/>
              <a:t>‘</a:t>
            </a:r>
            <a:r>
              <a:rPr lang="en-US" altLang="en-US"/>
              <a:t>product_category</a:t>
            </a:r>
            <a:r>
              <a:rPr lang="en-GB" altLang="en-US"/>
              <a:t>’</a:t>
            </a:r>
            <a:r>
              <a:rPr lang="en-US" altLang="en-US"/>
              <a:t>, </a:t>
            </a:r>
            <a:r>
              <a:rPr lang="en-GB" altLang="en-US"/>
              <a:t>‘</a:t>
            </a:r>
            <a:r>
              <a:rPr lang="en-US" altLang="en-US"/>
              <a:t>customer_segment</a:t>
            </a:r>
            <a:r>
              <a:rPr lang="en-GB" altLang="en-US"/>
              <a:t>’</a:t>
            </a:r>
            <a:r>
              <a:rPr lang="en-US" altLang="en-US"/>
              <a:t>, </a:t>
            </a:r>
            <a:r>
              <a:rPr lang="en-GB" altLang="en-US"/>
              <a:t>‘</a:t>
            </a:r>
            <a:r>
              <a:rPr lang="en-US" altLang="en-US"/>
              <a:t>payment_method</a:t>
            </a:r>
            <a:r>
              <a:rPr lang="en-GB" altLang="en-US"/>
              <a:t>’</a:t>
            </a:r>
            <a:r>
              <a:rPr lang="en-US" altLang="en-US"/>
              <a:t>, and </a:t>
            </a:r>
            <a:r>
              <a:rPr lang="en-GB" altLang="en-US"/>
              <a:t>‘</a:t>
            </a:r>
            <a:r>
              <a:rPr lang="en-US" altLang="en-US"/>
              <a:t>return_status</a:t>
            </a:r>
            <a:r>
              <a:rPr lang="en-GB" altLang="en-US"/>
              <a:t>’</a:t>
            </a:r>
            <a:r>
              <a:rPr lang="en-US" altLang="en-US" b="1"/>
              <a:t>.</a:t>
            </a:r>
            <a:endParaRPr lang="en-US" altLang="en-US" b="1"/>
          </a:p>
          <a:p>
            <a:r>
              <a:rPr lang="en-US" altLang="en-US"/>
              <a:t>Majority of customers belonged to the "Regular" segment</a:t>
            </a:r>
            <a:r>
              <a:rPr lang="en-US" altLang="en-US" b="1"/>
              <a:t>.</a:t>
            </a:r>
            <a:endParaRPr lang="en-US" altLang="en-US" b="1"/>
          </a:p>
          <a:p>
            <a:r>
              <a:rPr lang="en-US" altLang="en-US"/>
              <a:t>The </a:t>
            </a:r>
            <a:r>
              <a:rPr lang="en-GB" altLang="en-US"/>
              <a:t>“</a:t>
            </a:r>
            <a:r>
              <a:rPr lang="en-US" altLang="en-US"/>
              <a:t>Electronics</a:t>
            </a:r>
            <a:r>
              <a:rPr lang="en-GB" altLang="en-US"/>
              <a:t>”</a:t>
            </a:r>
            <a:r>
              <a:rPr lang="en-US" altLang="en-US"/>
              <a:t> category recorded the highest transaction count</a:t>
            </a:r>
            <a:r>
              <a:rPr lang="en-US" altLang="en-US" b="1"/>
              <a:t>.</a:t>
            </a:r>
            <a:endParaRPr lang="en-US" altLang="en-US" b="1"/>
          </a:p>
          <a:p>
            <a:r>
              <a:rPr lang="en-US" altLang="en-US"/>
              <a:t>Baseline return rate hovered around </a:t>
            </a:r>
            <a:r>
              <a:rPr lang="en-GB" altLang="en-US"/>
              <a:t>“</a:t>
            </a:r>
            <a:r>
              <a:rPr lang="en-US" altLang="en-US"/>
              <a:t>15%</a:t>
            </a:r>
            <a:r>
              <a:rPr lang="en-GB" altLang="en-US" b="1"/>
              <a:t>”</a:t>
            </a:r>
            <a:endParaRPr lang="en-GB" altLang="en-US" b="1"/>
          </a:p>
        </p:txBody>
      </p:sp>
      <p:pic>
        <p:nvPicPr>
          <p:cNvPr id="4" name="Picture 3" descr="pc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900" y="1596390"/>
            <a:ext cx="6127750" cy="46532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329635"/>
            <a:ext cx="10969200" cy="705600"/>
          </a:xfrm>
        </p:spPr>
        <p:txBody>
          <a:bodyPr/>
          <a:p>
            <a:r>
              <a:rPr lang="en-US" altLang="en-US" b="1"/>
              <a:t>Outlier Detection &amp; Interpretation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5090160" cy="5028565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 sz="2800" b="1"/>
              <a:t>Outlier Detection &amp; Handling</a:t>
            </a:r>
            <a:endParaRPr lang="en-US" altLang="en-US" sz="2800"/>
          </a:p>
          <a:p>
            <a:r>
              <a:rPr lang="en-US" altLang="en-US" sz="2000" b="1"/>
              <a:t>Detection Methods</a:t>
            </a:r>
            <a:r>
              <a:rPr lang="en-US" altLang="en-US" sz="2000"/>
              <a:t>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Boxplots, Interquartile Range (IQR) method, and Z-score method.</a:t>
            </a:r>
            <a:endParaRPr lang="en-US" altLang="en-US" sz="2000"/>
          </a:p>
          <a:p>
            <a:r>
              <a:rPr lang="en-US" altLang="en-US" sz="2000"/>
              <a:t>Extreme values were prominently observed in </a:t>
            </a:r>
            <a:r>
              <a:rPr lang="en-GB" altLang="en-US" sz="2000"/>
              <a:t>‘</a:t>
            </a:r>
            <a:r>
              <a:rPr lang="en-US" altLang="en-US" sz="2000"/>
              <a:t>product_price</a:t>
            </a:r>
            <a:r>
              <a:rPr lang="en-GB" altLang="en-US" sz="2000"/>
              <a:t>’</a:t>
            </a:r>
            <a:r>
              <a:rPr lang="en-US" altLang="en-US" sz="2000"/>
              <a:t>.</a:t>
            </a:r>
            <a:endParaRPr lang="en-US" altLang="en-US" sz="2000"/>
          </a:p>
          <a:p>
            <a:r>
              <a:rPr lang="en-US" altLang="en-US" sz="2000"/>
              <a:t>High outliers in </a:t>
            </a:r>
            <a:r>
              <a:rPr lang="en-GB" altLang="en-US" sz="2000"/>
              <a:t>‘</a:t>
            </a:r>
            <a:r>
              <a:rPr lang="en-US" altLang="en-US" sz="2000"/>
              <a:t>final_price</a:t>
            </a:r>
            <a:r>
              <a:rPr lang="en-GB" altLang="en-US" sz="2000"/>
              <a:t>’</a:t>
            </a:r>
            <a:r>
              <a:rPr lang="en-US" altLang="en-US" sz="2000"/>
              <a:t> mapped directly to high-quantity purchases and premium tiers.</a:t>
            </a:r>
            <a:endParaRPr lang="en-US" altLang="en-US" sz="2000"/>
          </a:p>
          <a:p>
            <a:r>
              <a:rPr lang="en-US" altLang="en-US" sz="2000" b="1"/>
              <a:t>Handling Strategy</a:t>
            </a:r>
            <a:r>
              <a:rPr lang="en-US" altLang="en-US" sz="2000"/>
              <a:t>: Outliers were retained as they represent genuine high-value business transactions.</a:t>
            </a:r>
            <a:endParaRPr lang="en-US" altLang="en-US" sz="2000"/>
          </a:p>
          <a:p>
            <a:endParaRPr lang="en-US" altLang="en-US" sz="2000"/>
          </a:p>
        </p:txBody>
      </p:sp>
      <p:pic>
        <p:nvPicPr>
          <p:cNvPr id="4" name="Picture 3" descr="pc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325" y="1489710"/>
            <a:ext cx="6339840" cy="50285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45770" y="367665"/>
            <a:ext cx="12061190" cy="705485"/>
          </a:xfrm>
        </p:spPr>
        <p:txBody>
          <a:bodyPr>
            <a:normAutofit fontScale="90000"/>
          </a:bodyPr>
          <a:p>
            <a:r>
              <a:rPr lang="en-US" altLang="en-US" sz="4000" b="1"/>
              <a:t>Bivariate Analysis – Numerical vs Numerical</a:t>
            </a:r>
            <a:endParaRPr lang="en-US" altLang="en-US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32560"/>
            <a:ext cx="5263515" cy="502793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sz="2400" b="1"/>
              <a:t>Bivariate Analysis: Numerical vs. Numerical</a:t>
            </a:r>
            <a:endParaRPr lang="en-US" altLang="en-US" sz="2400" b="1"/>
          </a:p>
          <a:p>
            <a:r>
              <a:rPr lang="en-US" altLang="en-US" b="1"/>
              <a:t>Methodology: </a:t>
            </a:r>
            <a:r>
              <a:rPr lang="en-US" altLang="en-US"/>
              <a:t>Pearson correlation analysis</a:t>
            </a:r>
            <a:r>
              <a:rPr lang="en-US" altLang="en-US" b="1"/>
              <a:t>.</a:t>
            </a:r>
            <a:endParaRPr lang="en-US" altLang="en-US" b="1"/>
          </a:p>
          <a:p>
            <a:r>
              <a:rPr lang="en-US" altLang="en-US" b="1"/>
              <a:t>Strong positive correlation</a:t>
            </a:r>
            <a:r>
              <a:rPr lang="en-GB" altLang="en-US" b="1"/>
              <a:t>-</a:t>
            </a:r>
            <a:r>
              <a:rPr lang="en-US" altLang="en-US" b="1"/>
              <a:t> </a:t>
            </a:r>
            <a:r>
              <a:rPr lang="en-US" altLang="en-US"/>
              <a:t>between `product_price` and `final_price</a:t>
            </a:r>
            <a:r>
              <a:rPr lang="en-US" altLang="en-US" b="1"/>
              <a:t>`.</a:t>
            </a:r>
            <a:endParaRPr lang="en-US" altLang="en-US" b="1"/>
          </a:p>
          <a:p>
            <a:r>
              <a:rPr lang="en-US" altLang="en-US" b="1"/>
              <a:t>Strong positive correlation</a:t>
            </a:r>
            <a:r>
              <a:rPr lang="en-GB" altLang="en-US" b="1"/>
              <a:t> -</a:t>
            </a:r>
            <a:r>
              <a:rPr lang="en-US" altLang="en-US" b="1"/>
              <a:t> </a:t>
            </a:r>
            <a:r>
              <a:rPr lang="en-US" altLang="en-US"/>
              <a:t>between quantity purchased and </a:t>
            </a:r>
            <a:r>
              <a:rPr lang="en-GB" altLang="en-US"/>
              <a:t>‘</a:t>
            </a:r>
            <a:r>
              <a:rPr lang="en-US" altLang="en-US"/>
              <a:t>final_price</a:t>
            </a:r>
            <a:r>
              <a:rPr lang="en-GB" altLang="en-US"/>
              <a:t>’</a:t>
            </a:r>
            <a:r>
              <a:rPr lang="en-US" altLang="en-US" b="1"/>
              <a:t>.</a:t>
            </a:r>
            <a:endParaRPr lang="en-US" altLang="en-US" b="1"/>
          </a:p>
          <a:p>
            <a:r>
              <a:rPr lang="en-US" altLang="en-US" b="1"/>
              <a:t>Weak correlation</a:t>
            </a:r>
            <a:r>
              <a:rPr lang="en-GB" altLang="en-US" b="1"/>
              <a:t> -</a:t>
            </a:r>
            <a:r>
              <a:rPr lang="en-US" altLang="en-US"/>
              <a:t> between customer age and total spending</a:t>
            </a:r>
            <a:r>
              <a:rPr lang="en-US" altLang="en-US" b="1"/>
              <a:t>.</a:t>
            </a:r>
            <a:endParaRPr lang="en-US" altLang="en-US" b="1"/>
          </a:p>
          <a:p>
            <a:r>
              <a:rPr lang="en-US" altLang="en-US" b="1"/>
              <a:t>Slight positive correlation</a:t>
            </a:r>
            <a:r>
              <a:rPr lang="en-GB" altLang="en-US" b="1"/>
              <a:t> - </a:t>
            </a:r>
            <a:r>
              <a:rPr lang="en-US" altLang="en-US"/>
              <a:t>between delivery days and return status</a:t>
            </a:r>
            <a:r>
              <a:rPr lang="en-US" altLang="en-US" b="1"/>
              <a:t>.</a:t>
            </a:r>
            <a:endParaRPr lang="en-US" altLang="en-US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070" y="1432560"/>
            <a:ext cx="6057265" cy="50279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82575" y="306705"/>
            <a:ext cx="11831955" cy="926465"/>
          </a:xfrm>
        </p:spPr>
        <p:txBody>
          <a:bodyPr>
            <a:normAutofit fontScale="90000"/>
          </a:bodyPr>
          <a:p>
            <a:r>
              <a:rPr lang="en-US" altLang="en-US" sz="4000" b="1"/>
              <a:t>Bivariate Analysis</a:t>
            </a:r>
            <a:r>
              <a:rPr lang="en-GB" altLang="en-US" sz="4000" b="1"/>
              <a:t> </a:t>
            </a:r>
            <a:r>
              <a:rPr lang="en-US" altLang="en-US" sz="4000" b="1"/>
              <a:t>–</a:t>
            </a:r>
            <a:r>
              <a:rPr lang="en-GB" altLang="en-US" sz="4000" b="1"/>
              <a:t> </a:t>
            </a:r>
            <a:r>
              <a:rPr lang="en-US" altLang="en-US" sz="4000" b="1"/>
              <a:t>Numerical</a:t>
            </a:r>
            <a:r>
              <a:rPr lang="en-GB" altLang="en-US" sz="4000" b="1"/>
              <a:t> </a:t>
            </a:r>
            <a:r>
              <a:rPr lang="en-US" altLang="en-US" sz="4000" b="1"/>
              <a:t>vs Categorical</a:t>
            </a:r>
            <a:endParaRPr lang="en-US" altLang="en-US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45770" y="1490345"/>
            <a:ext cx="5387340" cy="5038090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en-US" altLang="en-US" sz="3000" b="1"/>
              <a:t>Bivariate Analysis: Numerical &amp; Categorical</a:t>
            </a:r>
            <a:endParaRPr lang="en-US" altLang="en-US" sz="3000" b="1"/>
          </a:p>
          <a:p>
            <a:r>
              <a:rPr lang="en-US" altLang="en-US" sz="2665" b="1"/>
              <a:t>Customer Segment vs. Average Final Price:</a:t>
            </a:r>
            <a:endParaRPr lang="en-US" altLang="en-US" sz="2665"/>
          </a:p>
          <a:p>
            <a:pPr marL="0" indent="0">
              <a:buNone/>
            </a:pPr>
            <a:r>
              <a:rPr lang="en-US" altLang="en-US" sz="2665"/>
              <a:t>Premium customers consistently exhibited</a:t>
            </a:r>
            <a:r>
              <a:rPr lang="en-GB" altLang="en-US" sz="2665"/>
              <a:t>          </a:t>
            </a:r>
            <a:r>
              <a:rPr lang="en-US" altLang="en-US" sz="2665"/>
              <a:t>higher average spending levels.</a:t>
            </a:r>
            <a:endParaRPr lang="en-US" altLang="en-US" sz="2665"/>
          </a:p>
          <a:p>
            <a:r>
              <a:rPr lang="en-US" altLang="en-US" sz="2665" b="1"/>
              <a:t>Product Category vs. Return Rate:</a:t>
            </a:r>
            <a:r>
              <a:rPr lang="en-GB" altLang="en-US" sz="2665" b="1"/>
              <a:t> </a:t>
            </a:r>
            <a:r>
              <a:rPr lang="en-US" altLang="en-US" sz="2665"/>
              <a:t>Electronics displayed slightly elevated return rates.</a:t>
            </a:r>
            <a:endParaRPr lang="en-US" altLang="en-US" sz="2665"/>
          </a:p>
          <a:p>
            <a:r>
              <a:rPr lang="en-US" altLang="en-US" sz="2665" b="1"/>
              <a:t>Shipping Type vs. Delivery Day</a:t>
            </a:r>
            <a:r>
              <a:rPr lang="en-US" altLang="en-US" sz="2665" b="1"/>
              <a:t>s:</a:t>
            </a:r>
            <a:endParaRPr lang="en-US" altLang="en-US" sz="2665"/>
          </a:p>
          <a:p>
            <a:pPr marL="0" indent="0">
              <a:buNone/>
            </a:pPr>
            <a:r>
              <a:rPr lang="en-US" altLang="en-US" sz="2665"/>
              <a:t>Express shipping significantly reduced delivery turnaround times.</a:t>
            </a:r>
            <a:endParaRPr lang="en-US" altLang="en-US" sz="2665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1490345"/>
            <a:ext cx="6209030" cy="50380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19780"/>
            <a:ext cx="10969200" cy="705600"/>
          </a:xfrm>
        </p:spPr>
        <p:txBody>
          <a:bodyPr/>
          <a:p>
            <a:r>
              <a:rPr lang="en-US" altLang="en-US" b="1"/>
              <a:t>Correlation Matrix &amp; Heatmap Analysis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326515"/>
            <a:ext cx="4572000" cy="531685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 sz="2400" b="1"/>
              <a:t>Correlation Matrix &amp; Heatmap Analysis</a:t>
            </a:r>
            <a:r>
              <a:rPr lang="en-GB" altLang="en-US" sz="2400" b="1"/>
              <a:t>:</a:t>
            </a:r>
            <a:endParaRPr lang="en-GB" altLang="en-US" sz="2400" b="1"/>
          </a:p>
          <a:p>
            <a:r>
              <a:rPr lang="en-US" altLang="en-US"/>
              <a:t>Mapped linear associations across all numerical variables.</a:t>
            </a:r>
            <a:endParaRPr lang="en-US" altLang="en-US"/>
          </a:p>
          <a:p>
            <a:r>
              <a:rPr lang="en-GB" altLang="en-US"/>
              <a:t>‘</a:t>
            </a:r>
            <a:r>
              <a:rPr lang="en-US" altLang="en-US"/>
              <a:t>final_price</a:t>
            </a:r>
            <a:r>
              <a:rPr lang="en-GB" altLang="en-US"/>
              <a:t>’</a:t>
            </a:r>
            <a:r>
              <a:rPr lang="en-US" altLang="en-US"/>
              <a:t> correlates strongly with </a:t>
            </a:r>
            <a:r>
              <a:rPr lang="en-GB" altLang="en-US"/>
              <a:t>‘</a:t>
            </a:r>
            <a:r>
              <a:rPr lang="en-US" altLang="en-US"/>
              <a:t>product_price</a:t>
            </a:r>
            <a:r>
              <a:rPr lang="en-GB" altLang="en-US"/>
              <a:t>’</a:t>
            </a:r>
            <a:r>
              <a:rPr lang="en-US" altLang="en-US"/>
              <a:t> and quantity, and negatively with </a:t>
            </a:r>
            <a:r>
              <a:rPr lang="en-GB" altLang="en-US"/>
              <a:t>‘</a:t>
            </a:r>
            <a:r>
              <a:rPr lang="en-US" altLang="en-US"/>
              <a:t>discount_percentage</a:t>
            </a:r>
            <a:r>
              <a:rPr lang="en-GB" altLang="en-US"/>
              <a:t>’</a:t>
            </a:r>
            <a:r>
              <a:rPr lang="en-US" altLang="en-US"/>
              <a:t>.</a:t>
            </a:r>
            <a:endParaRPr lang="en-US" altLang="en-US"/>
          </a:p>
          <a:p>
            <a:r>
              <a:rPr lang="en-US" altLang="en-US"/>
              <a:t> Delivery days display minimal correlation with customer spending.</a:t>
            </a:r>
            <a:endParaRPr lang="en-US" altLang="en-US"/>
          </a:p>
          <a:p>
            <a:r>
              <a:rPr lang="en-US" altLang="en-US"/>
              <a:t>No severe multicollinearity issues were detected among independent features.</a:t>
            </a:r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915" y="1306830"/>
            <a:ext cx="6806565" cy="53365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4825" y="213995"/>
            <a:ext cx="11623040" cy="705485"/>
          </a:xfrm>
        </p:spPr>
        <p:txBody>
          <a:bodyPr>
            <a:normAutofit fontScale="90000"/>
          </a:bodyPr>
          <a:p>
            <a:r>
              <a:rPr lang="en-US" altLang="en-US" sz="4000" b="1"/>
              <a:t>Multivariate Analysis – Complex Interactions</a:t>
            </a:r>
            <a:endParaRPr lang="en-US" altLang="en-US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22910" y="1208405"/>
            <a:ext cx="5039360" cy="5400040"/>
          </a:xfrm>
        </p:spPr>
        <p:txBody>
          <a:bodyPr>
            <a:normAutofit fontScale="40000"/>
          </a:bodyPr>
          <a:p>
            <a:pPr marL="0" indent="0">
              <a:buNone/>
            </a:pPr>
            <a:r>
              <a:rPr lang="en-US" altLang="en-US" sz="4500" b="1"/>
              <a:t>Multivariate Analysis: Multi-Variable Insights</a:t>
            </a:r>
            <a:r>
              <a:rPr lang="en-GB" altLang="en-US" sz="4500" b="1"/>
              <a:t>:</a:t>
            </a:r>
            <a:endParaRPr lang="en-GB" altLang="en-US" sz="2400" b="1"/>
          </a:p>
          <a:p>
            <a:r>
              <a:rPr lang="en-US" altLang="en-US" sz="4000" b="1"/>
              <a:t>Product Category × Discount × Final Price:</a:t>
            </a:r>
            <a:endParaRPr lang="en-US" altLang="en-US" sz="2400" b="1"/>
          </a:p>
          <a:p>
            <a:pPr marL="0" indent="0">
              <a:buNone/>
            </a:pPr>
            <a:r>
              <a:rPr lang="en-US" altLang="en-US" sz="3500"/>
              <a:t>Electronics items paired with moderate discounts generated the highest overall revenue</a:t>
            </a:r>
            <a:r>
              <a:rPr lang="en-US" altLang="en-US" sz="3500" b="1"/>
              <a:t>.</a:t>
            </a:r>
            <a:endParaRPr lang="en-US" altLang="en-US" sz="3500" b="1"/>
          </a:p>
          <a:p>
            <a:r>
              <a:rPr lang="en-US" altLang="en-US" sz="4000" b="1"/>
              <a:t>Customer Segment × Age × Spending:</a:t>
            </a:r>
            <a:endParaRPr lang="en-US" altLang="en-US" sz="3200" b="1"/>
          </a:p>
          <a:p>
            <a:pPr marL="0" indent="0">
              <a:buNone/>
            </a:pPr>
            <a:r>
              <a:rPr lang="en-US" altLang="en-US" sz="3500"/>
              <a:t>Premium customers in the 30–45 age bracket recorded maximum spending volume</a:t>
            </a:r>
            <a:r>
              <a:rPr lang="en-US" altLang="en-US" sz="3200"/>
              <a:t>.</a:t>
            </a:r>
            <a:endParaRPr lang="en-US" altLang="en-US" sz="3200" b="1"/>
          </a:p>
          <a:p>
            <a:r>
              <a:rPr lang="en-US" altLang="en-US" sz="4000" b="1"/>
              <a:t>Delivery Days × Shipping Type × Return Status:</a:t>
            </a:r>
            <a:endParaRPr lang="en-US" altLang="en-US" sz="3200" b="1"/>
          </a:p>
          <a:p>
            <a:pPr marL="0" indent="0">
              <a:buNone/>
            </a:pPr>
            <a:r>
              <a:rPr lang="en-US" altLang="en-US" sz="3500"/>
              <a:t>Standard shipping combined with longer delivery durations notably increased return probabilities.</a:t>
            </a:r>
            <a:endParaRPr lang="en-US" altLang="en-US" sz="35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020" y="1112520"/>
            <a:ext cx="6760210" cy="54959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69975" y="98425"/>
            <a:ext cx="10968990" cy="629285"/>
          </a:xfrm>
        </p:spPr>
        <p:txBody>
          <a:bodyPr>
            <a:normAutofit fontScale="90000"/>
          </a:bodyPr>
          <a:p>
            <a:r>
              <a:rPr lang="en-US" altLang="en-US" sz="4000" b="1"/>
              <a:t>Skewness &amp; Kurtosis Interpretation</a:t>
            </a:r>
            <a:endParaRPr lang="en-US" altLang="en-US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5800" y="918210"/>
            <a:ext cx="4243705" cy="5294630"/>
          </a:xfrm>
        </p:spPr>
        <p:txBody>
          <a:bodyPr>
            <a:normAutofit fontScale="25000"/>
          </a:bodyPr>
          <a:p>
            <a:pPr marL="0" indent="0">
              <a:buNone/>
            </a:pPr>
            <a:r>
              <a:rPr lang="en-US" altLang="en-US" sz="8000" b="1"/>
              <a:t>Distribution Analysis: Skewness &amp; Kurtosis</a:t>
            </a:r>
            <a:r>
              <a:rPr lang="en-GB" altLang="en-US" sz="8000" b="1"/>
              <a:t>:</a:t>
            </a:r>
            <a:endParaRPr lang="en-US" altLang="en-US" sz="8000"/>
          </a:p>
          <a:p>
            <a:r>
              <a:rPr lang="en-US" altLang="en-US" sz="6400" b="1"/>
              <a:t>Positive Skewness (</a:t>
            </a:r>
            <a:r>
              <a:rPr lang="en-GB" altLang="en-US" sz="6400" b="1"/>
              <a:t>‘</a:t>
            </a:r>
            <a:r>
              <a:rPr lang="en-US" altLang="en-US" sz="6400" b="1"/>
              <a:t>product_price</a:t>
            </a:r>
            <a:r>
              <a:rPr lang="en-GB" altLang="en-US" sz="6400" b="1"/>
              <a:t>’</a:t>
            </a:r>
            <a:r>
              <a:rPr lang="en-US" altLang="en-US" sz="6400" b="1"/>
              <a:t>, </a:t>
            </a:r>
            <a:r>
              <a:rPr lang="en-GB" altLang="en-US" sz="6400" b="1"/>
              <a:t>‘</a:t>
            </a:r>
            <a:r>
              <a:rPr lang="en-US" altLang="en-US" sz="6400" b="1"/>
              <a:t>final_price</a:t>
            </a:r>
            <a:r>
              <a:rPr lang="en-GB" altLang="en-US" sz="6400" b="1"/>
              <a:t>’</a:t>
            </a:r>
            <a:r>
              <a:rPr lang="en-US" altLang="en-US" sz="6400" b="1"/>
              <a:t>)</a:t>
            </a:r>
            <a:r>
              <a:rPr lang="en-US" altLang="en-US" sz="6400"/>
              <a:t>: Majority of transactions are small-to-medium sized, interspersed with a select few large transactions.</a:t>
            </a:r>
            <a:endParaRPr lang="en-US" altLang="en-US" sz="6400"/>
          </a:p>
          <a:p>
            <a:r>
              <a:rPr lang="en-US" altLang="en-US" sz="6400" b="1"/>
              <a:t>High Kurtosis (</a:t>
            </a:r>
            <a:r>
              <a:rPr lang="en-GB" altLang="en-US" sz="6400" b="1"/>
              <a:t>‘</a:t>
            </a:r>
            <a:r>
              <a:rPr lang="en-US" altLang="en-US" sz="6400" b="1"/>
              <a:t>final_price</a:t>
            </a:r>
            <a:r>
              <a:rPr lang="en-GB" altLang="en-US" sz="6400" b="1"/>
              <a:t>’</a:t>
            </a:r>
            <a:r>
              <a:rPr lang="en-US" altLang="en-US" sz="6400" b="1"/>
              <a:t>)</a:t>
            </a:r>
            <a:r>
              <a:rPr lang="en-US" altLang="en-US" sz="6400"/>
              <a:t>: Signifies heavy tails and extreme purchase behaviors.</a:t>
            </a:r>
            <a:endParaRPr lang="en-US" altLang="en-US" sz="6400"/>
          </a:p>
          <a:p>
            <a:r>
              <a:rPr lang="en-US" altLang="en-US" sz="6400" b="1"/>
              <a:t>Business Utility:</a:t>
            </a:r>
            <a:r>
              <a:rPr lang="en-US" altLang="en-US" sz="6400"/>
              <a:t>Successfully pinpoints distribution asymmetry and potential financial risk zones.</a:t>
            </a:r>
            <a:endParaRPr lang="en-US" altLang="en-US" sz="6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525" y="917575"/>
            <a:ext cx="6774815" cy="58667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94480" y="222955"/>
            <a:ext cx="10969200" cy="705600"/>
          </a:xfrm>
        </p:spPr>
        <p:txBody>
          <a:bodyPr/>
          <a:p>
            <a:r>
              <a:rPr lang="en-US" altLang="en-US" b="1"/>
              <a:t>Core Technical Libraries Used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75260" y="1033780"/>
            <a:ext cx="5920740" cy="557339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2800" b="1">
                <a:sym typeface="+mn-ea"/>
              </a:rPr>
              <a:t>Core Technical Stack &amp; Libraries</a:t>
            </a:r>
            <a:r>
              <a:rPr lang="en-GB" altLang="en-US" sz="2800" b="1">
                <a:sym typeface="+mn-ea"/>
              </a:rPr>
              <a:t>:</a:t>
            </a:r>
            <a:endParaRPr lang="en-GB" altLang="en-US" sz="2400" b="1"/>
          </a:p>
          <a:p>
            <a:r>
              <a:rPr lang="en-US" altLang="en-US" sz="2000" b="1"/>
              <a:t>NumPy</a:t>
            </a:r>
            <a:r>
              <a:rPr lang="en-US" altLang="en-US" sz="2000"/>
              <a:t>:Multidimensional array objects and mathematical operations.</a:t>
            </a:r>
            <a:endParaRPr lang="en-US" altLang="en-US"/>
          </a:p>
          <a:p>
            <a:r>
              <a:rPr lang="en-US" altLang="en-US" sz="2000" b="1"/>
              <a:t>Pandas</a:t>
            </a:r>
            <a:r>
              <a:rPr lang="en-US" altLang="en-US" sz="2000"/>
              <a:t>: Data manipulation, cleaning, and structural analysis.</a:t>
            </a:r>
            <a:endParaRPr lang="en-US" altLang="en-US"/>
          </a:p>
          <a:p>
            <a:r>
              <a:rPr lang="en-US" altLang="en-US" sz="2000" b="1"/>
              <a:t>Matplotlib</a:t>
            </a:r>
            <a:r>
              <a:rPr lang="en-US" altLang="en-US" sz="2000"/>
              <a:t>: Core visualization library for 2D charts and plots.</a:t>
            </a:r>
            <a:endParaRPr lang="en-US" altLang="en-US"/>
          </a:p>
          <a:p>
            <a:r>
              <a:rPr lang="en-US" altLang="en-US" sz="2000" b="1"/>
              <a:t>Seaborn</a:t>
            </a:r>
            <a:r>
              <a:rPr lang="en-US" altLang="en-US" sz="2000"/>
              <a:t>: Advanced statistical graphics built on top of Matplotlib.</a:t>
            </a:r>
            <a:endParaRPr lang="en-US" altLang="en-US" sz="2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750" y="859155"/>
            <a:ext cx="5807710" cy="57480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47720"/>
            <a:ext cx="10969200" cy="705600"/>
          </a:xfrm>
        </p:spPr>
        <p:txBody>
          <a:bodyPr/>
          <a:p>
            <a:r>
              <a:rPr lang="en-US" altLang="en-US" b="1"/>
              <a:t>Strategic Business Implications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27050" y="1390015"/>
            <a:ext cx="6276975" cy="544385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sz="2400" b="1"/>
              <a:t>Strategic Business Implications</a:t>
            </a:r>
            <a:r>
              <a:rPr lang="en-GB" altLang="en-US" sz="2400" b="1"/>
              <a:t>:</a:t>
            </a:r>
            <a:endParaRPr lang="en-GB" altLang="en-US" sz="2400"/>
          </a:p>
          <a:p>
            <a:r>
              <a:rPr lang="en-US" altLang="en-US" sz="2000" b="1"/>
              <a:t>Targeted Marketing</a:t>
            </a:r>
            <a:r>
              <a:rPr lang="en-US" altLang="en-US" sz="2000"/>
              <a:t>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/>
              <a:t>Focus campaigns on the high-spending 30–45 age demographic within premium customer segments.</a:t>
            </a:r>
            <a:endParaRPr lang="en-US" altLang="en-US"/>
          </a:p>
          <a:p>
            <a:r>
              <a:rPr lang="en-US" altLang="en-US" sz="2000" b="1"/>
              <a:t>Inventory Management</a:t>
            </a:r>
            <a:r>
              <a:rPr lang="en-US" altLang="en-US" sz="2000"/>
              <a:t>:</a:t>
            </a: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Prioritize high-demand categories like Electronics while closely monitoring return trends.</a:t>
            </a:r>
            <a:endParaRPr lang="en-US" altLang="en-US"/>
          </a:p>
          <a:p>
            <a:r>
              <a:rPr lang="en-US" altLang="en-US" sz="2000" b="1"/>
              <a:t>Logistics Optimization</a:t>
            </a:r>
            <a:r>
              <a:rPr lang="en-US" altLang="en-US" sz="2000"/>
              <a:t>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/>
              <a:t> Expand express shipping offerings to curb return rates linked to extended delivery times.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9435" y="1297305"/>
            <a:ext cx="5194935" cy="55365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795780" y="794385"/>
            <a:ext cx="10968990" cy="879475"/>
          </a:xfrm>
        </p:spPr>
        <p:txBody>
          <a:bodyPr/>
          <a:p>
            <a:r>
              <a:rPr lang="en-US" altLang="en-US" sz="4000" b="1"/>
              <a:t>Conclusion &amp; Future Scope</a:t>
            </a:r>
            <a:endParaRPr lang="en-US" altLang="en-US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597660" y="2037715"/>
            <a:ext cx="9210675" cy="3851275"/>
          </a:xfrm>
        </p:spPr>
        <p:txBody>
          <a:bodyPr/>
          <a:p>
            <a:r>
              <a:rPr lang="en-US" altLang="en-US" sz="2000" b="1"/>
              <a:t>Successfully executed univariate distributions, bivariate relationships, multivariate interactions, correlation studies, and outlier detection.</a:t>
            </a:r>
            <a:endParaRPr lang="en-US" altLang="en-US" sz="2000" b="1"/>
          </a:p>
          <a:p>
            <a:endParaRPr lang="en-US" altLang="en-US" sz="2000" b="1"/>
          </a:p>
          <a:p>
            <a:r>
              <a:rPr lang="en-US" altLang="en-US" sz="2000" b="1"/>
              <a:t>Provides a rock-solid statistical foundation for deploying high-performing predictive machine learning models and driving data-backed retail decisions.</a:t>
            </a:r>
            <a:endParaRPr lang="en-US" altLang="en-US" sz="2000" b="1"/>
          </a:p>
          <a:p>
            <a:endParaRPr lang="en-US" altLang="en-US" sz="2000" b="1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08330"/>
            <a:ext cx="10968990" cy="5875020"/>
          </a:xfrm>
        </p:spPr>
        <p:txBody>
          <a:bodyPr/>
          <a:p>
            <a:endParaRPr lang="en-US"/>
          </a:p>
        </p:txBody>
      </p:sp>
      <p:pic>
        <p:nvPicPr>
          <p:cNvPr id="9" name="Content Placeholder 8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5245</Words>
  <Application>WPS Presentation</Application>
  <PresentationFormat>Widescreen</PresentationFormat>
  <Paragraphs>126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1_WPS</vt:lpstr>
      <vt:lpstr>Exploratory Data Analysis of Large-Scale Retail Transaction Data  By Manasmita Mohakud</vt:lpstr>
      <vt:lpstr> Introduction to Exploratory Data Analysis</vt:lpstr>
      <vt:lpstr>Situation Overview &amp; Objectives</vt:lpstr>
      <vt:lpstr>Univariate Analysis – Numerical Variables</vt:lpstr>
      <vt:lpstr>Univariate Analysis – Categorical Variables</vt:lpstr>
      <vt:lpstr>Outlier Detection &amp; Interpretation</vt:lpstr>
      <vt:lpstr>Bivariate Analysis – Numerical vs Numerical</vt:lpstr>
      <vt:lpstr>Bivariate Analysis – Numerical vs Categorical</vt:lpstr>
      <vt:lpstr>Correlation Matrix &amp; Heatmap Analysis</vt:lpstr>
      <vt:lpstr>Multivariate Analysis – Complex Interactions</vt:lpstr>
      <vt:lpstr>Skewness &amp; Kurtosis Interpretation</vt:lpstr>
      <vt:lpstr>Core Technical Libraries Used</vt:lpstr>
      <vt:lpstr>Strategic Business Implications</vt:lpstr>
      <vt:lpstr>Conclusion &amp; Future Scope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 of Large-Scale Retail Transaction Data  By Manasmita Mohakud</dc:title>
  <dc:creator>HP</dc:creator>
  <cp:lastModifiedBy>MANASMITA MOHAKUD</cp:lastModifiedBy>
  <cp:revision>6</cp:revision>
  <dcterms:created xsi:type="dcterms:W3CDTF">2026-09-20T16:59:00Z</dcterms:created>
  <dcterms:modified xsi:type="dcterms:W3CDTF">2026-09-24T18:01:40Z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F9FE3A5178EB4166B06EB99EB5861D98_13</vt:lpwstr>
  </property>
</Properties>
</file>